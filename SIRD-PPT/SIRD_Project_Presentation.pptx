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70" r:id="rId12"/>
    <p:sldId id="269" r:id="rId13"/>
    <p:sldId id="267" r:id="rId14"/>
    <p:sldId id="266" r:id="rId15"/>
  </p:sldIdLst>
  <p:sldSz cx="18288000" cy="10287000"/>
  <p:notesSz cx="6858000" cy="9144000"/>
  <p:embeddedFontLst>
    <p:embeddedFont>
      <p:font typeface="Canva Sans Bold" panose="020B0604020202020204" charset="0"/>
      <p:regular r:id="rId17"/>
    </p:embeddedFont>
    <p:embeddedFont>
      <p:font typeface="Roboto" panose="02000000000000000000" pitchFamily="2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92314E-DF4F-42B8-9F43-E33D747DDF32}" v="32" dt="2026-08-17T16:26:01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05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-6145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3048895"/>
            <a:ext cx="16303523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SIRD – Sports Injury Risk Detection from Video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435231"/>
            <a:ext cx="16303523" cy="1321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AI-Powered Sports Movement Analysis</a:t>
            </a:r>
          </a:p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Infosys Springboard Internship Project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6075607"/>
            <a:ext cx="16303523" cy="1963493"/>
            <a:chOff x="0" y="0"/>
            <a:chExt cx="21738031" cy="15118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37955" cy="1511808"/>
            </a:xfrm>
            <a:custGeom>
              <a:avLst/>
              <a:gdLst/>
              <a:ahLst/>
              <a:cxnLst/>
              <a:rect l="l" t="t" r="r" b="b"/>
              <a:pathLst>
                <a:path w="21737955" h="1511808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353058"/>
                  </a:lnTo>
                  <a:cubicBezTo>
                    <a:pt x="21737955" y="1440688"/>
                    <a:pt x="21666836" y="1511808"/>
                    <a:pt x="21579205" y="1511808"/>
                  </a:cubicBezTo>
                  <a:lnTo>
                    <a:pt x="158750" y="1511808"/>
                  </a:lnTo>
                  <a:cubicBezTo>
                    <a:pt x="71120" y="1511808"/>
                    <a:pt x="0" y="1440688"/>
                    <a:pt x="0" y="1353058"/>
                  </a:cubicBezTo>
                  <a:close/>
                </a:path>
              </a:pathLst>
            </a:custGeom>
            <a:solidFill>
              <a:srgbClr val="182567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913630" y="6334716"/>
            <a:ext cx="16013011" cy="130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Name : Muhammed Faizal F</a:t>
            </a:r>
          </a:p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Project  : SIRD – Sports Injury Risk Detection from Video</a:t>
            </a:r>
          </a:p>
          <a:p>
            <a:pPr>
              <a:lnSpc>
                <a:spcPts val="3511"/>
              </a:lnSpc>
            </a:pPr>
            <a:r>
              <a:rPr lang="en-US" sz="2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Program : Infosys Springboard Internship 7.0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760907"/>
            <a:ext cx="16303523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4060479"/>
            <a:ext cx="647405" cy="647405"/>
            <a:chOff x="0" y="0"/>
            <a:chExt cx="863206" cy="8632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702056" y="0"/>
                  </a:lnTo>
                  <a:cubicBezTo>
                    <a:pt x="791083" y="0"/>
                    <a:pt x="863219" y="72136"/>
                    <a:pt x="863219" y="161163"/>
                  </a:cubicBezTo>
                  <a:lnTo>
                    <a:pt x="863219" y="702056"/>
                  </a:lnTo>
                  <a:cubicBezTo>
                    <a:pt x="863219" y="791083"/>
                    <a:pt x="791083" y="863219"/>
                    <a:pt x="702056" y="863219"/>
                  </a:cubicBezTo>
                  <a:lnTo>
                    <a:pt x="161163" y="863219"/>
                  </a:lnTo>
                  <a:cubicBezTo>
                    <a:pt x="72136" y="863219"/>
                    <a:pt x="0" y="791083"/>
                    <a:pt x="0" y="702056"/>
                  </a:cubicBezTo>
                  <a:close/>
                </a:path>
              </a:pathLst>
            </a:custGeom>
            <a:solidFill>
              <a:srgbClr val="182567"/>
            </a:solidFill>
            <a:ln w="9526" cap="sq">
              <a:solidFill>
                <a:srgbClr val="313E80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913630" y="4143527"/>
            <a:ext cx="4276877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What is SIRD?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13630" y="4680347"/>
            <a:ext cx="4276877" cy="2363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SIRD is an AI-enabled system that analyzes athlete movement from video to detect injury-risk indicators and present role-specific insights.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40103" y="4060479"/>
            <a:ext cx="647405" cy="647405"/>
            <a:chOff x="0" y="0"/>
            <a:chExt cx="863206" cy="86320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702056" y="0"/>
                  </a:lnTo>
                  <a:cubicBezTo>
                    <a:pt x="791083" y="0"/>
                    <a:pt x="863219" y="72136"/>
                    <a:pt x="863219" y="161163"/>
                  </a:cubicBezTo>
                  <a:lnTo>
                    <a:pt x="863219" y="702056"/>
                  </a:lnTo>
                  <a:cubicBezTo>
                    <a:pt x="863219" y="791083"/>
                    <a:pt x="791083" y="863219"/>
                    <a:pt x="702056" y="863219"/>
                  </a:cubicBezTo>
                  <a:lnTo>
                    <a:pt x="161163" y="863219"/>
                  </a:lnTo>
                  <a:cubicBezTo>
                    <a:pt x="72136" y="863219"/>
                    <a:pt x="0" y="791083"/>
                    <a:pt x="0" y="702056"/>
                  </a:cubicBezTo>
                  <a:close/>
                </a:path>
              </a:pathLst>
            </a:custGeom>
            <a:solidFill>
              <a:srgbClr val="182567"/>
            </a:solidFill>
            <a:ln w="9526" cap="sq">
              <a:solidFill>
                <a:srgbClr val="313E80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7466257" y="4143527"/>
            <a:ext cx="4276877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Why prevention matters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6257" y="4680347"/>
            <a:ext cx="4276877" cy="2817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Early identification of risky movement patterns reduces downtime, improves performance continuity and supports evidence-based training and rehab decisions.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92730" y="4060479"/>
            <a:ext cx="647405" cy="647405"/>
            <a:chOff x="0" y="0"/>
            <a:chExt cx="863206" cy="8632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702056" y="0"/>
                  </a:lnTo>
                  <a:cubicBezTo>
                    <a:pt x="791083" y="0"/>
                    <a:pt x="863219" y="72136"/>
                    <a:pt x="863219" y="161163"/>
                  </a:cubicBezTo>
                  <a:lnTo>
                    <a:pt x="863219" y="702056"/>
                  </a:lnTo>
                  <a:cubicBezTo>
                    <a:pt x="863219" y="791083"/>
                    <a:pt x="791083" y="863219"/>
                    <a:pt x="702056" y="863219"/>
                  </a:cubicBezTo>
                  <a:lnTo>
                    <a:pt x="161163" y="863219"/>
                  </a:lnTo>
                  <a:cubicBezTo>
                    <a:pt x="72136" y="863219"/>
                    <a:pt x="0" y="791083"/>
                    <a:pt x="0" y="702056"/>
                  </a:cubicBezTo>
                  <a:close/>
                </a:path>
              </a:pathLst>
            </a:custGeom>
            <a:solidFill>
              <a:srgbClr val="182567"/>
            </a:solidFill>
            <a:ln w="9526" cap="sq">
              <a:solidFill>
                <a:srgbClr val="313E80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3018894" y="4143527"/>
            <a:ext cx="4276877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Why video-based analysis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18894" y="4680347"/>
            <a:ext cx="4276877" cy="2363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Video is ubiquitous, non-invasive, and captures context-rich movement — enabling retrospective review, longitudinal tracking and scalable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493321"/>
            <a:ext cx="16303523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 Statement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3797646"/>
            <a:ext cx="3863130" cy="3967315"/>
          </a:xfrm>
          <a:custGeom>
            <a:avLst/>
            <a:gdLst/>
            <a:ahLst/>
            <a:cxnLst/>
            <a:rect l="l" t="t" r="r" b="b"/>
            <a:pathLst>
              <a:path w="3863130" h="3967315">
                <a:moveTo>
                  <a:pt x="0" y="0"/>
                </a:moveTo>
                <a:lnTo>
                  <a:pt x="3863131" y="0"/>
                </a:lnTo>
                <a:lnTo>
                  <a:pt x="3863131" y="3967315"/>
                </a:lnTo>
                <a:lnTo>
                  <a:pt x="0" y="3967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6" b="-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66250" y="4100217"/>
            <a:ext cx="3067498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Manual assessment limits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6250" y="5079949"/>
            <a:ext cx="3067498" cy="19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Manual video review is time-consuming and inconsistent across evaluators.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5138890" y="3797646"/>
            <a:ext cx="3863283" cy="3967315"/>
          </a:xfrm>
          <a:custGeom>
            <a:avLst/>
            <a:gdLst/>
            <a:ahLst/>
            <a:cxnLst/>
            <a:rect l="l" t="t" r="r" b="b"/>
            <a:pathLst>
              <a:path w="3863283" h="3967315">
                <a:moveTo>
                  <a:pt x="0" y="0"/>
                </a:moveTo>
                <a:lnTo>
                  <a:pt x="3863283" y="0"/>
                </a:lnTo>
                <a:lnTo>
                  <a:pt x="3863283" y="3967315"/>
                </a:lnTo>
                <a:lnTo>
                  <a:pt x="0" y="3967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7" b="-8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612902" y="4100217"/>
            <a:ext cx="306765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Hidden abnormalities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12902" y="5079949"/>
            <a:ext cx="3067650" cy="19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Subtle deviations in kinematics are easy to miss without quantitative measures.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285684" y="3797646"/>
            <a:ext cx="3863283" cy="3967315"/>
          </a:xfrm>
          <a:custGeom>
            <a:avLst/>
            <a:gdLst/>
            <a:ahLst/>
            <a:cxnLst/>
            <a:rect l="l" t="t" r="r" b="b"/>
            <a:pathLst>
              <a:path w="3863283" h="3967315">
                <a:moveTo>
                  <a:pt x="0" y="0"/>
                </a:moveTo>
                <a:lnTo>
                  <a:pt x="3863283" y="0"/>
                </a:lnTo>
                <a:lnTo>
                  <a:pt x="3863283" y="3967315"/>
                </a:lnTo>
                <a:lnTo>
                  <a:pt x="0" y="3967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7" b="-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759706" y="4100217"/>
            <a:ext cx="3067650" cy="1347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Need for structured monitoring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59706" y="5522862"/>
            <a:ext cx="3067650" cy="19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Athletes require repeatable tracking of movement and recovery progress over time.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13432479" y="3797646"/>
            <a:ext cx="3863283" cy="3967315"/>
          </a:xfrm>
          <a:custGeom>
            <a:avLst/>
            <a:gdLst/>
            <a:ahLst/>
            <a:cxnLst/>
            <a:rect l="l" t="t" r="r" b="b"/>
            <a:pathLst>
              <a:path w="3863283" h="3967315">
                <a:moveTo>
                  <a:pt x="0" y="0"/>
                </a:moveTo>
                <a:lnTo>
                  <a:pt x="3863283" y="0"/>
                </a:lnTo>
                <a:lnTo>
                  <a:pt x="3863283" y="3967315"/>
                </a:lnTo>
                <a:lnTo>
                  <a:pt x="0" y="3967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7" b="-8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906500" y="4100217"/>
            <a:ext cx="306765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Fragmented information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06500" y="5079949"/>
            <a:ext cx="3067650" cy="2363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Coaches and support staff lack a centralized, role-based view of analysis and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629518"/>
            <a:ext cx="16303523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Objectives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2933852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667" r="-2466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55314" y="2914802"/>
            <a:ext cx="6911426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Analyze videos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55314" y="3451622"/>
            <a:ext cx="691142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Ingest and validate athlete video uploads for structured processing.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321108" y="2933852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384184" y="2914802"/>
            <a:ext cx="6911578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Extract movement features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84184" y="3451622"/>
            <a:ext cx="6911578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Derive pose and kinematic features useful for risk assessment.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92238" y="5021161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666" r="-4667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055314" y="5002111"/>
            <a:ext cx="6911426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Detect risk indicators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55314" y="5538940"/>
            <a:ext cx="691142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Flag movement patterns correlated with elevated injury risk.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321108" y="5021161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999" b="-2001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384184" y="5002111"/>
            <a:ext cx="6911578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Maintain profiles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84184" y="5538940"/>
            <a:ext cx="6911578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Track athlete history, videos and longitudinal metrics.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992238" y="7108479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666" r="-4667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055314" y="7089429"/>
            <a:ext cx="6911426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Role-based insights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55314" y="7626248"/>
            <a:ext cx="691142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Deliver tailored dashboards for Admin, Athlete, Coach, Physio, Scientist.</a:t>
            </a:r>
          </a:p>
        </p:txBody>
      </p:sp>
      <p:sp>
        <p:nvSpPr>
          <p:cNvPr id="22" name="Freeform 22" descr="preencoded.png"/>
          <p:cNvSpPr/>
          <p:nvPr/>
        </p:nvSpPr>
        <p:spPr>
          <a:xfrm>
            <a:off x="9321108" y="7108479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999" r="-2001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384184" y="7089429"/>
            <a:ext cx="6911578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Support decisions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84184" y="7626248"/>
            <a:ext cx="6911578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Provide actionable guidance for training and recovery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811666"/>
            <a:ext cx="16303523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Existing System — Limitations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190705"/>
            <a:ext cx="7805890" cy="315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Observation-heavy workflows with human variability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Poor historical tracking and fragmented records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No centralized repository for multi-session comparisons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Limited automation for extracting quantifiable movement metrics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Hard to scale across teams and organizations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99406" y="4293098"/>
            <a:ext cx="7805890" cy="2012756"/>
            <a:chOff x="0" y="0"/>
            <a:chExt cx="10407853" cy="26836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07777" cy="2683637"/>
            </a:xfrm>
            <a:custGeom>
              <a:avLst/>
              <a:gdLst/>
              <a:ahLst/>
              <a:cxnLst/>
              <a:rect l="l" t="t" r="r" b="b"/>
              <a:pathLst>
                <a:path w="10407777" h="268363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784" y="0"/>
                    <a:pt x="10407777" y="71120"/>
                    <a:pt x="10407777" y="158750"/>
                  </a:cubicBezTo>
                  <a:lnTo>
                    <a:pt x="10407777" y="2524887"/>
                  </a:lnTo>
                  <a:cubicBezTo>
                    <a:pt x="10407777" y="2612644"/>
                    <a:pt x="10336657" y="2683637"/>
                    <a:pt x="10249027" y="2683637"/>
                  </a:cubicBezTo>
                  <a:lnTo>
                    <a:pt x="158750" y="2683637"/>
                  </a:lnTo>
                  <a:cubicBezTo>
                    <a:pt x="70993" y="2683637"/>
                    <a:pt x="0" y="2612517"/>
                    <a:pt x="0" y="2524887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782918" y="4723209"/>
            <a:ext cx="354359" cy="283521"/>
            <a:chOff x="0" y="0"/>
            <a:chExt cx="472478" cy="37802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72" r="-680" b="1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0420798" y="4523784"/>
            <a:ext cx="6600977" cy="145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SIRD addresses these gaps by introducing automated, consistent video processing and unified role-based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20188"/>
            <a:ext cx="16303523" cy="617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Proposed System — SIRD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1864366"/>
            <a:ext cx="7085562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Core user flows and capabilities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2446506"/>
            <a:ext cx="6171162" cy="240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2656"/>
              </a:lnSpc>
              <a:buFont typeface="Arial"/>
              <a:buChar char="•"/>
            </a:pPr>
            <a:r>
              <a:rPr lang="en-US" sz="18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User authentication (JWT)</a:t>
            </a:r>
          </a:p>
          <a:p>
            <a:pPr marL="434340" lvl="1" indent="-217170" algn="l">
              <a:lnSpc>
                <a:spcPts val="2656"/>
              </a:lnSpc>
              <a:buFont typeface="Arial"/>
              <a:buChar char="•"/>
            </a:pPr>
            <a:r>
              <a:rPr lang="en-US" sz="18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Athlete profile &amp; organization management</a:t>
            </a:r>
          </a:p>
          <a:p>
            <a:pPr marL="434340" lvl="1" indent="-217170" algn="l">
              <a:lnSpc>
                <a:spcPts val="2656"/>
              </a:lnSpc>
              <a:buFont typeface="Arial"/>
              <a:buChar char="•"/>
            </a:pPr>
            <a:r>
              <a:rPr lang="en-US" sz="18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Video upload and validation</a:t>
            </a:r>
          </a:p>
          <a:p>
            <a:pPr marL="434340" lvl="1" indent="-217170" algn="l">
              <a:lnSpc>
                <a:spcPts val="2656"/>
              </a:lnSpc>
              <a:buFont typeface="Arial"/>
              <a:buChar char="•"/>
            </a:pPr>
            <a:r>
              <a:rPr lang="en-US" sz="18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AI-driven video processing and risk prediction</a:t>
            </a:r>
          </a:p>
          <a:p>
            <a:pPr marL="434340" lvl="1" indent="-217170" algn="l">
              <a:lnSpc>
                <a:spcPts val="2656"/>
              </a:lnSpc>
              <a:buFont typeface="Arial"/>
              <a:buChar char="•"/>
            </a:pPr>
            <a:r>
              <a:rPr lang="en-US" sz="18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Role-based dashboards and training/recovery guidance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756627" y="1966912"/>
            <a:ext cx="478336" cy="298999"/>
            <a:chOff x="0" y="0"/>
            <a:chExt cx="637781" cy="39866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7779" cy="398661"/>
            </a:xfrm>
            <a:custGeom>
              <a:avLst/>
              <a:gdLst/>
              <a:ahLst/>
              <a:cxnLst/>
              <a:rect l="l" t="t" r="r" b="b"/>
              <a:pathLst>
                <a:path w="637779" h="398661">
                  <a:moveTo>
                    <a:pt x="0" y="0"/>
                  </a:moveTo>
                  <a:lnTo>
                    <a:pt x="637779" y="0"/>
                  </a:lnTo>
                  <a:lnTo>
                    <a:pt x="637779" y="398661"/>
                  </a:lnTo>
                  <a:lnTo>
                    <a:pt x="0" y="3986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200" r="-30200" b="-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637781" cy="4081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FD0D8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756627" y="2344788"/>
            <a:ext cx="9548517" cy="28575"/>
            <a:chOff x="0" y="0"/>
            <a:chExt cx="12731356" cy="38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731369" cy="38100"/>
            </a:xfrm>
            <a:custGeom>
              <a:avLst/>
              <a:gdLst/>
              <a:ahLst/>
              <a:cxnLst/>
              <a:rect l="l" t="t" r="r" b="b"/>
              <a:pathLst>
                <a:path w="12731369" h="38100">
                  <a:moveTo>
                    <a:pt x="0" y="0"/>
                  </a:moveTo>
                  <a:lnTo>
                    <a:pt x="12731369" y="0"/>
                  </a:lnTo>
                  <a:lnTo>
                    <a:pt x="1273136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A6ED8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7756627" y="2502398"/>
            <a:ext cx="9548517" cy="39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1. Upload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56627" y="3039818"/>
            <a:ext cx="9548517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Secure video submission by athlete or staff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756627" y="3830841"/>
            <a:ext cx="478336" cy="298999"/>
            <a:chOff x="0" y="0"/>
            <a:chExt cx="637781" cy="39866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7779" cy="398661"/>
            </a:xfrm>
            <a:custGeom>
              <a:avLst/>
              <a:gdLst/>
              <a:ahLst/>
              <a:cxnLst/>
              <a:rect l="l" t="t" r="r" b="b"/>
              <a:pathLst>
                <a:path w="637779" h="398661">
                  <a:moveTo>
                    <a:pt x="0" y="0"/>
                  </a:moveTo>
                  <a:lnTo>
                    <a:pt x="637779" y="0"/>
                  </a:lnTo>
                  <a:lnTo>
                    <a:pt x="637779" y="398661"/>
                  </a:lnTo>
                  <a:lnTo>
                    <a:pt x="0" y="3986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200" r="-30200" b="-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637781" cy="4081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FD0D8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756627" y="4208707"/>
            <a:ext cx="9548517" cy="28575"/>
            <a:chOff x="0" y="0"/>
            <a:chExt cx="12731356" cy="38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731369" cy="38100"/>
            </a:xfrm>
            <a:custGeom>
              <a:avLst/>
              <a:gdLst/>
              <a:ahLst/>
              <a:cxnLst/>
              <a:rect l="l" t="t" r="r" b="b"/>
              <a:pathLst>
                <a:path w="12731369" h="38100">
                  <a:moveTo>
                    <a:pt x="0" y="0"/>
                  </a:moveTo>
                  <a:lnTo>
                    <a:pt x="12731369" y="0"/>
                  </a:lnTo>
                  <a:lnTo>
                    <a:pt x="1273136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A6ED8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7756627" y="4366317"/>
            <a:ext cx="9548517" cy="39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2. Process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6627" y="4903737"/>
            <a:ext cx="9548517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Frame-level pose extraction and feature derivation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756627" y="5694759"/>
            <a:ext cx="478336" cy="298999"/>
            <a:chOff x="0" y="0"/>
            <a:chExt cx="637781" cy="39866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7779" cy="398661"/>
            </a:xfrm>
            <a:custGeom>
              <a:avLst/>
              <a:gdLst/>
              <a:ahLst/>
              <a:cxnLst/>
              <a:rect l="l" t="t" r="r" b="b"/>
              <a:pathLst>
                <a:path w="637779" h="398661">
                  <a:moveTo>
                    <a:pt x="0" y="0"/>
                  </a:moveTo>
                  <a:lnTo>
                    <a:pt x="637779" y="0"/>
                  </a:lnTo>
                  <a:lnTo>
                    <a:pt x="637779" y="398661"/>
                  </a:lnTo>
                  <a:lnTo>
                    <a:pt x="0" y="3986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200" r="-30200" b="-1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637781" cy="4081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FD0D8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756627" y="6072635"/>
            <a:ext cx="9548517" cy="28575"/>
            <a:chOff x="0" y="0"/>
            <a:chExt cx="12731356" cy="381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731369" cy="38100"/>
            </a:xfrm>
            <a:custGeom>
              <a:avLst/>
              <a:gdLst/>
              <a:ahLst/>
              <a:cxnLst/>
              <a:rect l="l" t="t" r="r" b="b"/>
              <a:pathLst>
                <a:path w="12731369" h="38100">
                  <a:moveTo>
                    <a:pt x="0" y="0"/>
                  </a:moveTo>
                  <a:lnTo>
                    <a:pt x="12731369" y="0"/>
                  </a:lnTo>
                  <a:lnTo>
                    <a:pt x="1273136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A6ED8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7756627" y="6230245"/>
            <a:ext cx="9548517" cy="39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3. Predict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56627" y="6767665"/>
            <a:ext cx="9548517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Compute injury-risk indicators and flag concerns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756627" y="7558678"/>
            <a:ext cx="478336" cy="298999"/>
            <a:chOff x="0" y="0"/>
            <a:chExt cx="637781" cy="39866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37779" cy="398661"/>
            </a:xfrm>
            <a:custGeom>
              <a:avLst/>
              <a:gdLst/>
              <a:ahLst/>
              <a:cxnLst/>
              <a:rect l="l" t="t" r="r" b="b"/>
              <a:pathLst>
                <a:path w="637779" h="398661">
                  <a:moveTo>
                    <a:pt x="0" y="0"/>
                  </a:moveTo>
                  <a:lnTo>
                    <a:pt x="637779" y="0"/>
                  </a:lnTo>
                  <a:lnTo>
                    <a:pt x="637779" y="398661"/>
                  </a:lnTo>
                  <a:lnTo>
                    <a:pt x="0" y="3986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200" r="-30200" b="-1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637781" cy="4081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FD0D8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756627" y="7936554"/>
            <a:ext cx="9548517" cy="28575"/>
            <a:chOff x="0" y="0"/>
            <a:chExt cx="12731356" cy="381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731369" cy="38100"/>
            </a:xfrm>
            <a:custGeom>
              <a:avLst/>
              <a:gdLst/>
              <a:ahLst/>
              <a:cxnLst/>
              <a:rect l="l" t="t" r="r" b="b"/>
              <a:pathLst>
                <a:path w="12731369" h="38100">
                  <a:moveTo>
                    <a:pt x="0" y="0"/>
                  </a:moveTo>
                  <a:lnTo>
                    <a:pt x="12731369" y="0"/>
                  </a:lnTo>
                  <a:lnTo>
                    <a:pt x="1273136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A6ED8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7756627" y="8094164"/>
            <a:ext cx="9548517" cy="39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4. Report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56627" y="8631584"/>
            <a:ext cx="9548517" cy="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Deliver role-specific visualizations and guidance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780307"/>
            <a:ext cx="16303523" cy="65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System 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59361" y="1880292"/>
            <a:ext cx="16169135" cy="6972452"/>
            <a:chOff x="0" y="0"/>
            <a:chExt cx="21558847" cy="9296603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21558886" cy="9296654"/>
            </a:xfrm>
            <a:custGeom>
              <a:avLst/>
              <a:gdLst/>
              <a:ahLst/>
              <a:cxnLst/>
              <a:rect l="l" t="t" r="r" b="b"/>
              <a:pathLst>
                <a:path w="21558886" h="9296654">
                  <a:moveTo>
                    <a:pt x="0" y="0"/>
                  </a:moveTo>
                  <a:lnTo>
                    <a:pt x="21558886" y="0"/>
                  </a:lnTo>
                  <a:lnTo>
                    <a:pt x="21558886" y="9296654"/>
                  </a:lnTo>
                  <a:lnTo>
                    <a:pt x="0" y="9296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3" b="-5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147430" y="7501928"/>
            <a:ext cx="3668201" cy="487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Pipeline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47430" y="5887926"/>
            <a:ext cx="3668201" cy="487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Storage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47430" y="4290212"/>
            <a:ext cx="3668201" cy="487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Backend API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47430" y="2676211"/>
            <a:ext cx="3668201" cy="487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Frontend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9039073"/>
            <a:ext cx="17217923" cy="44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This architecture separates UI, API, persistent storage and the video/AI pipeline to enable scalability and clear responsibility boundaries.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836982"/>
            <a:ext cx="16303523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Technology Stack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3141316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332" b="-533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92238" y="4185342"/>
            <a:ext cx="7974511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Frontend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722171"/>
            <a:ext cx="797451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React + Vite — responsive SPA for dashboards and uploads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321108" y="3141316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6666" b="-6667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321108" y="4185342"/>
            <a:ext cx="797465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Backend &amp; 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21108" y="4722171"/>
            <a:ext cx="7974654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Python + FastAPI for APIs and the CV/AI pipeline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92238" y="5838082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7332" b="-7334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92238" y="6882108"/>
            <a:ext cx="7974511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Storage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7418937"/>
            <a:ext cx="797451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PostgreSQL managed schema via SQLAlchemy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321108" y="5838082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5332" b="-5334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321108" y="6882108"/>
            <a:ext cx="797465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Auth &amp; Dev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21108" y="7418937"/>
            <a:ext cx="7974654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JWT authentication; Git/GitHub for source control; VS Code for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33142"/>
            <a:ext cx="16303523" cy="496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4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 Roles &amp; Access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1673866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3000" b="-1300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92238" y="2291058"/>
            <a:ext cx="7919437" cy="288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2400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Admin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2707186"/>
            <a:ext cx="7919437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Manage organizations, generate join codes, user and system monitoring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92238" y="3246539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6000" b="-6000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92238" y="3863731"/>
            <a:ext cx="7919437" cy="288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2400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Athlete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4279849"/>
            <a:ext cx="7919437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Upload videos, view personal progress, follow guidance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92238" y="4819202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3000" b="-13000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92238" y="5436394"/>
            <a:ext cx="7919437" cy="288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2400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Coach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5852512"/>
            <a:ext cx="7919437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Review athlete performance, quality scores and prescribe training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92238" y="6391866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000" r="-8000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92238" y="7009057"/>
            <a:ext cx="7919437" cy="288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2400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Physiotherapist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238" y="7425185"/>
            <a:ext cx="7919437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Access injury-relevant metrics, recovery plans and session notes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992238" y="7964538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0000" b="-10000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92238" y="8581730"/>
            <a:ext cx="7919437" cy="288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2400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Sports Scientist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2238" y="8997848"/>
            <a:ext cx="8456562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Access research-grade analysis, exportable feature data and cohort comparisons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3B6CD67E-3079-6DF1-FE00-E19D7928D521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  <a:solidFill>
            <a:srgbClr val="000018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9F63EE71-5972-333E-711F-A23BCCB7EE1F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</p:spPr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A84E119-471B-6ED3-B40B-7198D2750347}"/>
              </a:ext>
            </a:extLst>
          </p:cNvPr>
          <p:cNvSpPr txBox="1"/>
          <p:nvPr/>
        </p:nvSpPr>
        <p:spPr>
          <a:xfrm>
            <a:off x="914400" y="800100"/>
            <a:ext cx="678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Application Screenshots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D11F52B1-D266-C342-577D-5C2BE71D157C}"/>
              </a:ext>
            </a:extLst>
          </p:cNvPr>
          <p:cNvSpPr/>
          <p:nvPr/>
        </p:nvSpPr>
        <p:spPr>
          <a:xfrm>
            <a:off x="914400" y="1874340"/>
            <a:ext cx="7293817" cy="3962400"/>
          </a:xfrm>
          <a:custGeom>
            <a:avLst/>
            <a:gdLst/>
            <a:ahLst/>
            <a:cxnLst/>
            <a:rect l="l" t="t" r="r" b="b"/>
            <a:pathLst>
              <a:path w="10407777" h="2683637">
                <a:moveTo>
                  <a:pt x="0" y="158750"/>
                </a:moveTo>
                <a:cubicBezTo>
                  <a:pt x="0" y="71120"/>
                  <a:pt x="71120" y="0"/>
                  <a:pt x="158750" y="0"/>
                </a:cubicBezTo>
                <a:lnTo>
                  <a:pt x="10249027" y="0"/>
                </a:lnTo>
                <a:cubicBezTo>
                  <a:pt x="10336784" y="0"/>
                  <a:pt x="10407777" y="71120"/>
                  <a:pt x="10407777" y="158750"/>
                </a:cubicBezTo>
                <a:lnTo>
                  <a:pt x="10407777" y="2524887"/>
                </a:lnTo>
                <a:cubicBezTo>
                  <a:pt x="10407777" y="2612644"/>
                  <a:pt x="10336657" y="2683637"/>
                  <a:pt x="10249027" y="2683637"/>
                </a:cubicBezTo>
                <a:lnTo>
                  <a:pt x="158750" y="2683637"/>
                </a:lnTo>
                <a:cubicBezTo>
                  <a:pt x="70993" y="2683637"/>
                  <a:pt x="0" y="2612517"/>
                  <a:pt x="0" y="2524887"/>
                </a:cubicBezTo>
                <a:close/>
              </a:path>
            </a:pathLst>
          </a:custGeom>
          <a:solidFill>
            <a:srgbClr val="182567"/>
          </a:solidFill>
        </p:spPr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483F5BAF-9B1D-B886-8CA4-C6F39300BD31}"/>
              </a:ext>
            </a:extLst>
          </p:cNvPr>
          <p:cNvSpPr/>
          <p:nvPr/>
        </p:nvSpPr>
        <p:spPr>
          <a:xfrm>
            <a:off x="5241083" y="6431460"/>
            <a:ext cx="7805833" cy="3588840"/>
          </a:xfrm>
          <a:custGeom>
            <a:avLst/>
            <a:gdLst/>
            <a:ahLst/>
            <a:cxnLst/>
            <a:rect l="l" t="t" r="r" b="b"/>
            <a:pathLst>
              <a:path w="10407777" h="2683637">
                <a:moveTo>
                  <a:pt x="0" y="158750"/>
                </a:moveTo>
                <a:cubicBezTo>
                  <a:pt x="0" y="71120"/>
                  <a:pt x="71120" y="0"/>
                  <a:pt x="158750" y="0"/>
                </a:cubicBezTo>
                <a:lnTo>
                  <a:pt x="10249027" y="0"/>
                </a:lnTo>
                <a:cubicBezTo>
                  <a:pt x="10336784" y="0"/>
                  <a:pt x="10407777" y="71120"/>
                  <a:pt x="10407777" y="158750"/>
                </a:cubicBezTo>
                <a:lnTo>
                  <a:pt x="10407777" y="2524887"/>
                </a:lnTo>
                <a:cubicBezTo>
                  <a:pt x="10407777" y="2612644"/>
                  <a:pt x="10336657" y="2683637"/>
                  <a:pt x="10249027" y="2683637"/>
                </a:cubicBezTo>
                <a:lnTo>
                  <a:pt x="158750" y="2683637"/>
                </a:lnTo>
                <a:cubicBezTo>
                  <a:pt x="70993" y="2683637"/>
                  <a:pt x="0" y="2612517"/>
                  <a:pt x="0" y="2524887"/>
                </a:cubicBezTo>
                <a:close/>
              </a:path>
            </a:pathLst>
          </a:custGeom>
          <a:solidFill>
            <a:srgbClr val="182567"/>
          </a:solidFill>
        </p:spPr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CCD3BA99-23AF-6056-307C-53820029A645}"/>
              </a:ext>
            </a:extLst>
          </p:cNvPr>
          <p:cNvSpPr/>
          <p:nvPr/>
        </p:nvSpPr>
        <p:spPr>
          <a:xfrm>
            <a:off x="9382063" y="1874340"/>
            <a:ext cx="7805833" cy="3962400"/>
          </a:xfrm>
          <a:custGeom>
            <a:avLst/>
            <a:gdLst/>
            <a:ahLst/>
            <a:cxnLst/>
            <a:rect l="l" t="t" r="r" b="b"/>
            <a:pathLst>
              <a:path w="10407777" h="2683637">
                <a:moveTo>
                  <a:pt x="0" y="158750"/>
                </a:moveTo>
                <a:cubicBezTo>
                  <a:pt x="0" y="71120"/>
                  <a:pt x="71120" y="0"/>
                  <a:pt x="158750" y="0"/>
                </a:cubicBezTo>
                <a:lnTo>
                  <a:pt x="10249027" y="0"/>
                </a:lnTo>
                <a:cubicBezTo>
                  <a:pt x="10336784" y="0"/>
                  <a:pt x="10407777" y="71120"/>
                  <a:pt x="10407777" y="158750"/>
                </a:cubicBezTo>
                <a:lnTo>
                  <a:pt x="10407777" y="2524887"/>
                </a:lnTo>
                <a:cubicBezTo>
                  <a:pt x="10407777" y="2612644"/>
                  <a:pt x="10336657" y="2683637"/>
                  <a:pt x="10249027" y="2683637"/>
                </a:cubicBezTo>
                <a:lnTo>
                  <a:pt x="158750" y="2683637"/>
                </a:lnTo>
                <a:cubicBezTo>
                  <a:pt x="70993" y="2683637"/>
                  <a:pt x="0" y="2612517"/>
                  <a:pt x="0" y="2524887"/>
                </a:cubicBezTo>
                <a:close/>
              </a:path>
            </a:pathLst>
          </a:custGeom>
          <a:solidFill>
            <a:srgbClr val="182567"/>
          </a:solidFill>
        </p:spPr>
        <p:txBody>
          <a:bodyPr/>
          <a:lstStyle/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EDC967-BA3C-195F-16DE-70CD9AEF6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1874340"/>
            <a:ext cx="7318398" cy="32544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7B00DA-42B9-261B-97FE-D93729598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063" y="1874340"/>
            <a:ext cx="7805833" cy="32544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53F17CE-4F4D-EAD9-2FCD-E8694AE18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083" y="6431459"/>
            <a:ext cx="7805833" cy="290304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10995FD-62BD-B5D9-1054-A0921AC41D21}"/>
              </a:ext>
            </a:extLst>
          </p:cNvPr>
          <p:cNvSpPr txBox="1"/>
          <p:nvPr/>
        </p:nvSpPr>
        <p:spPr>
          <a:xfrm>
            <a:off x="3048000" y="5128751"/>
            <a:ext cx="281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Login Page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E74C60-E8C5-57D8-1C82-0ABDCD7F97B2}"/>
              </a:ext>
            </a:extLst>
          </p:cNvPr>
          <p:cNvSpPr txBox="1"/>
          <p:nvPr/>
        </p:nvSpPr>
        <p:spPr>
          <a:xfrm>
            <a:off x="11610178" y="5190358"/>
            <a:ext cx="449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Athlete Dashboard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62E933-D4EA-7F2C-C115-BB2320FF846F}"/>
              </a:ext>
            </a:extLst>
          </p:cNvPr>
          <p:cNvSpPr txBox="1"/>
          <p:nvPr/>
        </p:nvSpPr>
        <p:spPr>
          <a:xfrm>
            <a:off x="7537165" y="9385012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3528554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8C56DC42-7512-8B45-6931-A36A5CD106C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  <a:solidFill>
            <a:srgbClr val="000018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CA70839D-0E13-6368-0B51-3395F8B09158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</p:spPr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CAE0D1F-3E55-DDF9-9A7F-87AF461B46CC}"/>
              </a:ext>
            </a:extLst>
          </p:cNvPr>
          <p:cNvSpPr txBox="1"/>
          <p:nvPr/>
        </p:nvSpPr>
        <p:spPr>
          <a:xfrm>
            <a:off x="990600" y="876300"/>
            <a:ext cx="7848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Role-Based Dashboards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29B0E2-D0BD-F5BE-E36D-3752BD808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282" y="2017215"/>
            <a:ext cx="7810500" cy="37358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98CBB1-9584-8950-B512-19C5BF5CF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4219" y="2017216"/>
            <a:ext cx="7810500" cy="37358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BBF039-1391-7812-3354-09F3BEA4E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969" y="6360615"/>
            <a:ext cx="7810500" cy="37358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92ED0A-6B06-2571-C9DA-4BDAFF129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969" y="6334420"/>
            <a:ext cx="7810500" cy="30762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0D0753-1842-8CBF-B718-57CE84D8D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281" y="2017216"/>
            <a:ext cx="7848600" cy="29738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F4757A3-0498-B0FD-3E38-61540BA56F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6120" y="2017215"/>
            <a:ext cx="7848598" cy="297388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0FC4A8C-BEBB-AE66-9AFA-5B367C9AA450}"/>
              </a:ext>
            </a:extLst>
          </p:cNvPr>
          <p:cNvSpPr txBox="1"/>
          <p:nvPr/>
        </p:nvSpPr>
        <p:spPr>
          <a:xfrm>
            <a:off x="3200400" y="5089208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Coach Dashboard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5DFA30-89D7-F0D3-2779-244BBFC871B8}"/>
              </a:ext>
            </a:extLst>
          </p:cNvPr>
          <p:cNvSpPr txBox="1"/>
          <p:nvPr/>
        </p:nvSpPr>
        <p:spPr>
          <a:xfrm>
            <a:off x="10820400" y="5017296"/>
            <a:ext cx="548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Physiotherapist Dashboard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AB2BFD-86E5-3112-953D-8A3E7AF2AE7C}"/>
              </a:ext>
            </a:extLst>
          </p:cNvPr>
          <p:cNvSpPr txBox="1"/>
          <p:nvPr/>
        </p:nvSpPr>
        <p:spPr>
          <a:xfrm>
            <a:off x="7010400" y="9537920"/>
            <a:ext cx="525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Sports Scientist Dashboard</a:t>
            </a:r>
          </a:p>
        </p:txBody>
      </p:sp>
    </p:spTree>
    <p:extLst>
      <p:ext uri="{BB962C8B-B14F-4D97-AF65-F5344CB8AC3E}">
        <p14:creationId xmlns:p14="http://schemas.microsoft.com/office/powerpoint/2010/main" val="1825802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55EE22A-7783-1FB4-9C9D-F0205F80AF0F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  <a:solidFill>
            <a:srgbClr val="000018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054D413-1946-A4D4-4E49-CFF17AA77A14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</p:spPr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8341AD7-40AE-FCB5-D670-20B0C9EB9645}"/>
              </a:ext>
            </a:extLst>
          </p:cNvPr>
          <p:cNvSpPr txBox="1"/>
          <p:nvPr/>
        </p:nvSpPr>
        <p:spPr>
          <a:xfrm>
            <a:off x="685800" y="876300"/>
            <a:ext cx="640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Future Enhancements</a:t>
            </a: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C646CA7A-4A5F-1527-918E-39185FB1B4B8}"/>
              </a:ext>
            </a:extLst>
          </p:cNvPr>
          <p:cNvSpPr/>
          <p:nvPr/>
        </p:nvSpPr>
        <p:spPr>
          <a:xfrm>
            <a:off x="1143000" y="2324100"/>
            <a:ext cx="16152704" cy="6934200"/>
          </a:xfrm>
          <a:custGeom>
            <a:avLst/>
            <a:gdLst/>
            <a:ahLst/>
            <a:cxnLst/>
            <a:rect l="l" t="t" r="r" b="b"/>
            <a:pathLst>
              <a:path w="21737955" h="1511808">
                <a:moveTo>
                  <a:pt x="0" y="158750"/>
                </a:moveTo>
                <a:cubicBezTo>
                  <a:pt x="0" y="71120"/>
                  <a:pt x="71120" y="0"/>
                  <a:pt x="158750" y="0"/>
                </a:cubicBezTo>
                <a:lnTo>
                  <a:pt x="21579205" y="0"/>
                </a:lnTo>
                <a:cubicBezTo>
                  <a:pt x="21666836" y="0"/>
                  <a:pt x="21737955" y="71120"/>
                  <a:pt x="21737955" y="158750"/>
                </a:cubicBezTo>
                <a:lnTo>
                  <a:pt x="21737955" y="1353058"/>
                </a:lnTo>
                <a:cubicBezTo>
                  <a:pt x="21737955" y="1440688"/>
                  <a:pt x="21666836" y="1511808"/>
                  <a:pt x="21579205" y="1511808"/>
                </a:cubicBezTo>
                <a:lnTo>
                  <a:pt x="158750" y="1511808"/>
                </a:lnTo>
                <a:cubicBezTo>
                  <a:pt x="71120" y="1511808"/>
                  <a:pt x="0" y="1440688"/>
                  <a:pt x="0" y="1353058"/>
                </a:cubicBezTo>
                <a:close/>
              </a:path>
            </a:pathLst>
          </a:custGeom>
          <a:solidFill>
            <a:srgbClr val="182567"/>
          </a:solidFill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Real-Time Video Analysis</a:t>
            </a:r>
            <a:b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Enable live movement and injury-risk analysis during training sessions.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Advanced AI Models</a:t>
            </a:r>
            <a:b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Improve movement analysis and risk prediction using more advanced AI techniques and larger datasets.</a:t>
            </a:r>
          </a:p>
          <a:p>
            <a:pPr lvl="0"/>
            <a: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Mobile Application</a:t>
            </a:r>
            <a:b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Provide SIRD features through Android and iOS applications.</a:t>
            </a:r>
          </a:p>
          <a:p>
            <a:pPr lvl="0"/>
            <a: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 Deployment</a:t>
            </a:r>
            <a:b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 the system on cloud infrastructure for scalable access and storage.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Personalized Training Plans</a:t>
            </a:r>
            <a:b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Generate customized training and recovery recommendations based on athlete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Long-Term Athlete Monitoring</a:t>
            </a:r>
            <a:b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Track performance and injury-risk trends over multiple training sessions.</a:t>
            </a:r>
          </a:p>
        </p:txBody>
      </p:sp>
    </p:spTree>
    <p:extLst>
      <p:ext uri="{BB962C8B-B14F-4D97-AF65-F5344CB8AC3E}">
        <p14:creationId xmlns:p14="http://schemas.microsoft.com/office/powerpoint/2010/main" val="1447818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2BC519E-98FD-6F24-D684-E47711D34957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  <a:solidFill>
            <a:srgbClr val="000018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110646A-0957-C4D4-32A8-F1E550B93D23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</p:spPr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56A9A94-E416-029B-8FDE-06976716ECDE}"/>
              </a:ext>
            </a:extLst>
          </p:cNvPr>
          <p:cNvSpPr txBox="1"/>
          <p:nvPr/>
        </p:nvSpPr>
        <p:spPr>
          <a:xfrm>
            <a:off x="1066800" y="1257300"/>
            <a:ext cx="5410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3E340B-4753-3723-0D79-DB4EA6552802}"/>
              </a:ext>
            </a:extLst>
          </p:cNvPr>
          <p:cNvSpPr txBox="1"/>
          <p:nvPr/>
        </p:nvSpPr>
        <p:spPr>
          <a:xfrm>
            <a:off x="1447800" y="2933700"/>
            <a:ext cx="11049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SIRD provides an integrated platform for video-based sports movement analysis and injury-risk assessment.</a:t>
            </a:r>
          </a:p>
          <a:p>
            <a:pPr algn="just"/>
            <a:endParaRPr lang="en-IN" sz="2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system enables athletes to upload and monitor their performance while providing role-based access for coaches, physiotherapists, sports scientists, and administrators.</a:t>
            </a:r>
          </a:p>
          <a:p>
            <a:pPr algn="just"/>
            <a:endParaRPr lang="en-IN" sz="2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/>
            <a: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By combining video processing, AI-based analysis, athlete profiles, risk indicators, and centralized dashboards, SIRD aims to support </a:t>
            </a:r>
            <a:r>
              <a:rPr lang="en-IN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early risk identification, informed decision-making, and safer sports training</a:t>
            </a:r>
            <a:endParaRPr lang="en-IN" sz="2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710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  <a:solidFill>
            <a:srgbClr val="000018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pFill/>
          </p:spPr>
        </p:sp>
      </p:grpSp>
      <p:sp>
        <p:nvSpPr>
          <p:cNvPr id="4" name="TextBox 4"/>
          <p:cNvSpPr txBox="1"/>
          <p:nvPr/>
        </p:nvSpPr>
        <p:spPr>
          <a:xfrm>
            <a:off x="8437202" y="2671610"/>
            <a:ext cx="141359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Q&amp;A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21128" y="4652327"/>
            <a:ext cx="404574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729</Words>
  <Application>Microsoft Office PowerPoint</Application>
  <PresentationFormat>Custom</PresentationFormat>
  <Paragraphs>143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Roboto</vt:lpstr>
      <vt:lpstr>Calibri</vt:lpstr>
      <vt:lpstr>Arial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SIRD-Sports-Injury-Risk-Detection-from-Video.pptx</dc:title>
  <dc:creator>Faizy</dc:creator>
  <cp:lastModifiedBy>Faizal F</cp:lastModifiedBy>
  <cp:revision>3</cp:revision>
  <dcterms:created xsi:type="dcterms:W3CDTF">2006-08-16T00:00:00Z</dcterms:created>
  <dcterms:modified xsi:type="dcterms:W3CDTF">2026-08-18T15:15:58Z</dcterms:modified>
  <dc:identifier>DAHSdDeOK6w</dc:identifier>
</cp:coreProperties>
</file>